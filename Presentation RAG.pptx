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Georgia Bold" charset="1" panose="02040802050405020203"/>
      <p:regular r:id="rId19"/>
    </p:embeddedFont>
    <p:embeddedFont>
      <p:font typeface="Montserrat Italic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3223260"/>
            <a:ext cx="1508760" cy="96012"/>
            <a:chOff x="0" y="0"/>
            <a:chExt cx="201168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" cy="128016"/>
            </a:xfrm>
            <a:custGeom>
              <a:avLst/>
              <a:gdLst/>
              <a:ahLst/>
              <a:cxnLst/>
              <a:rect r="r" b="b" t="t" l="l"/>
              <a:pathLst>
                <a:path h="12801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3429000"/>
            <a:ext cx="16322040" cy="1618602"/>
            <a:chOff x="0" y="0"/>
            <a:chExt cx="21762720" cy="2158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62720" cy="2158136"/>
            </a:xfrm>
            <a:custGeom>
              <a:avLst/>
              <a:gdLst/>
              <a:ahLst/>
              <a:cxnLst/>
              <a:rect r="r" b="b" t="t" l="l"/>
              <a:pathLst>
                <a:path h="2158136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158136"/>
                  </a:lnTo>
                  <a:lnTo>
                    <a:pt x="0" y="21581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880" r="0" b="-14309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1762720" cy="21581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FATF-RAG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5006340"/>
            <a:ext cx="15361920" cy="822960"/>
            <a:chOff x="0" y="0"/>
            <a:chExt cx="2048256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482561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3720" r="0" b="-31372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204825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C9D4E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Retrieval-Augmented Question Answering over the FATF Recommendations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7680960"/>
            <a:ext cx="15773400" cy="1234440"/>
            <a:chOff x="0" y="0"/>
            <a:chExt cx="2103120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76200"/>
              <a:ext cx="2103120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9FB0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End-to-end NLP application built on an LLM  ·  domain: AML/CFT regulatory text</a:t>
              </a:r>
            </a:p>
            <a:p>
              <a:pPr algn="l">
                <a:lnSpc>
                  <a:spcPts val="3042"/>
                </a:lnSpc>
              </a:pPr>
              <a:r>
                <a:rPr lang="en-US" sz="1950">
                  <a:solidFill>
                    <a:srgbClr val="9FB0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Group members: Riccardo Dondi, Maria Briones, Sayantan Mandal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PROBLEM FRAMING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1588198"/>
            <a:chOff x="0" y="0"/>
            <a:chExt cx="21762720" cy="2117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2117598"/>
            </a:xfrm>
            <a:custGeom>
              <a:avLst/>
              <a:gdLst/>
              <a:ahLst/>
              <a:cxnLst/>
              <a:rect r="r" b="b" t="t" l="l"/>
              <a:pathLst>
                <a:path h="2117598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117598"/>
                  </a:lnTo>
                  <a:lnTo>
                    <a:pt x="0" y="21175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022" r="0" b="-1304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1762720" cy="21175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Grounded, auditable answers from a 126-page legal text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16322040" cy="1228439"/>
            <a:chOff x="0" y="0"/>
            <a:chExt cx="21762720" cy="16379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637919"/>
            </a:xfrm>
            <a:custGeom>
              <a:avLst/>
              <a:gdLst/>
              <a:ahLst/>
              <a:cxnLst/>
              <a:rect r="r" b="b" t="t" l="l"/>
              <a:pathLst>
                <a:path h="1637919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37919"/>
                  </a:lnTo>
                  <a:lnTo>
                    <a:pt x="0" y="16379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4232" r="0" b="-20355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1762720" cy="16855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2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Compliance teams repeatedly ask narrow questions of a long, dense regulatory document. A plain LLM answers from memory: it cannot cite a source and it invents plausible-but-wrong specifics — unacceptable in a regulatory setting.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0595" y="3968115"/>
            <a:ext cx="7905750" cy="3722370"/>
            <a:chOff x="0" y="0"/>
            <a:chExt cx="10541000" cy="4963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41000" cy="4963160"/>
            </a:xfrm>
            <a:custGeom>
              <a:avLst/>
              <a:gdLst/>
              <a:ahLst/>
              <a:cxnLst/>
              <a:rect r="r" b="b" t="t" l="l"/>
              <a:pathLst>
                <a:path h="496316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4963160"/>
                  </a:lnTo>
                  <a:lnTo>
                    <a:pt x="0" y="4963160"/>
                  </a:ln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9317355" y="3968115"/>
            <a:ext cx="7905750" cy="3722370"/>
            <a:chOff x="0" y="0"/>
            <a:chExt cx="10541000" cy="4963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41000" cy="4963160"/>
            </a:xfrm>
            <a:custGeom>
              <a:avLst/>
              <a:gdLst/>
              <a:ahLst/>
              <a:cxnLst/>
              <a:rect r="r" b="b" t="t" l="l"/>
              <a:pathLst>
                <a:path h="496316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4963160"/>
                  </a:lnTo>
                  <a:lnTo>
                    <a:pt x="0" y="4963160"/>
                  </a:ln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4389120"/>
            <a:ext cx="6926580" cy="411480"/>
            <a:chOff x="0" y="0"/>
            <a:chExt cx="923544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2354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We framed it as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0180" y="4800600"/>
            <a:ext cx="6926580" cy="685800"/>
            <a:chOff x="0" y="0"/>
            <a:chExt cx="92354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35440" cy="914400"/>
            </a:xfrm>
            <a:custGeom>
              <a:avLst/>
              <a:gdLst/>
              <a:ahLst/>
              <a:cxnLst/>
              <a:rect r="r" b="b" t="t" l="l"/>
              <a:pathLst>
                <a:path h="914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2354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Grounded QA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0180" y="5623560"/>
            <a:ext cx="6926580" cy="1926269"/>
            <a:chOff x="0" y="0"/>
            <a:chExt cx="9235440" cy="256835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5440" cy="2568359"/>
            </a:xfrm>
            <a:custGeom>
              <a:avLst/>
              <a:gdLst/>
              <a:ahLst/>
              <a:cxnLst/>
              <a:rect r="r" b="b" t="t" l="l"/>
              <a:pathLst>
                <a:path h="2568359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2568359"/>
                  </a:lnTo>
                  <a:lnTo>
                    <a:pt x="0" y="25683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21" r="0" b="-1990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235440" cy="25683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 the passages that actually contain the answer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 only from them; refuse if not found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Cite the Recommendation number and page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06940" y="4389120"/>
            <a:ext cx="6926580" cy="411480"/>
            <a:chOff x="0" y="0"/>
            <a:chExt cx="92354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2354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Two domain requirements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4937760"/>
            <a:ext cx="6926580" cy="1234440"/>
            <a:chOff x="0" y="0"/>
            <a:chExt cx="9235440" cy="164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54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332" r="0" b="-593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23544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 b="true">
                  <a:solidFill>
                    <a:srgbClr val="1F2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Verifiability over fluency.  </a:t>
              </a: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confident wrong answer is worse than “not in the sources.” Citations and page traceability are first-class features.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06940" y="6377940"/>
            <a:ext cx="6926580" cy="1400108"/>
            <a:chOff x="0" y="0"/>
            <a:chExt cx="9235440" cy="186681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235440" cy="1866811"/>
            </a:xfrm>
            <a:custGeom>
              <a:avLst/>
              <a:gdLst/>
              <a:ahLst/>
              <a:cxnLst/>
              <a:rect r="r" b="b" t="t" l="l"/>
              <a:pathLst>
                <a:path h="1866811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866811"/>
                  </a:lnTo>
                  <a:lnTo>
                    <a:pt x="0" y="18668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312" r="0" b="-404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235440" cy="1885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73"/>
                </a:lnSpc>
              </a:pPr>
              <a:r>
                <a:rPr lang="en-US" sz="2025" b="true">
                  <a:solidFill>
                    <a:srgbClr val="1F2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Robustness to query style.  </a:t>
              </a: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Users mix conceptual questions with exact-term lookups (“Recommendation 16”, “USD/EUR 15 000”). Retrieval must handle both.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SYSTEM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1541822"/>
            <a:chOff x="0" y="0"/>
            <a:chExt cx="21762720" cy="20557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2055763"/>
            </a:xfrm>
            <a:custGeom>
              <a:avLst/>
              <a:gdLst/>
              <a:ahLst/>
              <a:cxnLst/>
              <a:rect r="r" b="b" t="t" l="l"/>
              <a:pathLst>
                <a:path h="2055763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055763"/>
                  </a:lnTo>
                  <a:lnTo>
                    <a:pt x="0" y="20557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36" r="0" b="-13740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2074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 thin, transparent pipeline — every stage is inspectable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0123" y="3414712"/>
            <a:ext cx="2428875" cy="1674495"/>
            <a:chOff x="0" y="0"/>
            <a:chExt cx="3238500" cy="22326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C6FA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94410" y="3429000"/>
            <a:ext cx="2400300" cy="1645920"/>
            <a:chOff x="0" y="0"/>
            <a:chExt cx="3200400" cy="2194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PDF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corpus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67278" y="3429000"/>
            <a:ext cx="425196" cy="1645920"/>
            <a:chOff x="0" y="0"/>
            <a:chExt cx="566928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28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6658" t="0" r="-446658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566928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C6F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›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50754" y="3414712"/>
            <a:ext cx="2428875" cy="1674495"/>
            <a:chOff x="0" y="0"/>
            <a:chExt cx="3238500" cy="2232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C6FA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765042" y="3429000"/>
            <a:ext cx="2400300" cy="1645920"/>
            <a:chOff x="0" y="0"/>
            <a:chExt cx="3200400" cy="21945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Chunk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+ page tag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137910" y="3429000"/>
            <a:ext cx="425196" cy="1645920"/>
            <a:chOff x="0" y="0"/>
            <a:chExt cx="566928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66928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6658" t="0" r="-44665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66928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C6F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›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21386" y="3414712"/>
            <a:ext cx="2428875" cy="1674495"/>
            <a:chOff x="0" y="0"/>
            <a:chExt cx="3238500" cy="22326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C6FA5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6535674" y="3429000"/>
            <a:ext cx="2400300" cy="1645920"/>
            <a:chOff x="0" y="0"/>
            <a:chExt cx="3200400" cy="21945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Embed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(MiniLM)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08542" y="3429000"/>
            <a:ext cx="425196" cy="1645920"/>
            <a:chOff x="0" y="0"/>
            <a:chExt cx="566928" cy="21945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66928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6658" t="0" r="-44665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66928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C6F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›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92018" y="3414712"/>
            <a:ext cx="2428875" cy="1674495"/>
            <a:chOff x="0" y="0"/>
            <a:chExt cx="3238500" cy="22326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C6FA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306306" y="3429000"/>
            <a:ext cx="2400300" cy="1645920"/>
            <a:chOff x="0" y="0"/>
            <a:chExt cx="3200400" cy="21945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Retrieve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hybrid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679174" y="3429000"/>
            <a:ext cx="425196" cy="1645920"/>
            <a:chOff x="0" y="0"/>
            <a:chExt cx="566928" cy="21945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66928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6658" t="0" r="-44665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66928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C6F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›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062650" y="3414712"/>
            <a:ext cx="2428875" cy="1674495"/>
            <a:chOff x="0" y="0"/>
            <a:chExt cx="3238500" cy="22326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4C6FA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076938" y="3429000"/>
            <a:ext cx="2400300" cy="1645920"/>
            <a:chOff x="0" y="0"/>
            <a:chExt cx="3200400" cy="21945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Generate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LLM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449806" y="3429000"/>
            <a:ext cx="425196" cy="1645920"/>
            <a:chOff x="0" y="0"/>
            <a:chExt cx="566928" cy="2194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66928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46658" t="0" r="-446658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66928" cy="2194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4C6FA5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›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4833282" y="3414712"/>
            <a:ext cx="2428875" cy="1674495"/>
            <a:chOff x="0" y="0"/>
            <a:chExt cx="3238500" cy="22326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38500" cy="2232660"/>
            </a:xfrm>
            <a:custGeom>
              <a:avLst/>
              <a:gdLst/>
              <a:ahLst/>
              <a:cxnLst/>
              <a:rect r="r" b="b" t="t" l="l"/>
              <a:pathLst>
                <a:path h="2232660" w="3238500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3089656" y="0"/>
                  </a:lnTo>
                  <a:cubicBezTo>
                    <a:pt x="3171825" y="0"/>
                    <a:pt x="3238500" y="66675"/>
                    <a:pt x="3238500" y="148844"/>
                  </a:cubicBezTo>
                  <a:lnTo>
                    <a:pt x="3238500" y="2083816"/>
                  </a:lnTo>
                  <a:cubicBezTo>
                    <a:pt x="3238500" y="2165985"/>
                    <a:pt x="3171825" y="2232660"/>
                    <a:pt x="3089656" y="2232660"/>
                  </a:cubicBezTo>
                  <a:lnTo>
                    <a:pt x="148844" y="2232660"/>
                  </a:lnTo>
                  <a:cubicBezTo>
                    <a:pt x="66675" y="2232660"/>
                    <a:pt x="0" y="2165985"/>
                    <a:pt x="0" y="2083816"/>
                  </a:cubicBezTo>
                  <a:close/>
                </a:path>
              </a:pathLst>
            </a:custGeom>
            <a:solidFill>
              <a:srgbClr val="1E2A44"/>
            </a:solidFill>
            <a:ln w="28575" cap="sq">
              <a:solidFill>
                <a:srgbClr val="1E2A4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4847570" y="3429000"/>
            <a:ext cx="2400300" cy="1645920"/>
            <a:chOff x="0" y="0"/>
            <a:chExt cx="3200400" cy="21945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004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7979" t="0" r="-37979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320040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Cited</a:t>
              </a:r>
            </a:p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answer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24865" y="6202847"/>
            <a:ext cx="5139690" cy="2145030"/>
            <a:chOff x="0" y="0"/>
            <a:chExt cx="6852920" cy="2860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529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71600" y="6563106"/>
            <a:ext cx="4297680" cy="548640"/>
            <a:chOff x="0" y="0"/>
            <a:chExt cx="573024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730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Local &amp; reproducible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31036" y="7200900"/>
            <a:ext cx="4297680" cy="1004649"/>
            <a:chOff x="0" y="0"/>
            <a:chExt cx="5730240" cy="133953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730240" cy="1339533"/>
            </a:xfrm>
            <a:custGeom>
              <a:avLst/>
              <a:gdLst/>
              <a:ahLst/>
              <a:cxnLst/>
              <a:rect r="r" b="b" t="t" l="l"/>
              <a:pathLst>
                <a:path h="1339533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39533"/>
                  </a:lnTo>
                  <a:lnTo>
                    <a:pt x="0" y="133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9" r="0" b="-3113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730240" cy="1358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MiniLM embeddings + open-source generators. No API keys, runs offline.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6551295" y="6202847"/>
            <a:ext cx="5139690" cy="2145030"/>
            <a:chOff x="0" y="0"/>
            <a:chExt cx="6852920" cy="2860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8529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6995160" y="6563106"/>
            <a:ext cx="4297680" cy="548640"/>
            <a:chOff x="0" y="0"/>
            <a:chExt cx="573024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730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Citable by construction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995160" y="7111746"/>
            <a:ext cx="4297680" cy="1004649"/>
            <a:chOff x="0" y="0"/>
            <a:chExt cx="5730240" cy="133953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730240" cy="1339533"/>
            </a:xfrm>
            <a:custGeom>
              <a:avLst/>
              <a:gdLst/>
              <a:ahLst/>
              <a:cxnLst/>
              <a:rect r="r" b="b" t="t" l="l"/>
              <a:pathLst>
                <a:path h="1339533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39533"/>
                  </a:lnTo>
                  <a:lnTo>
                    <a:pt x="0" y="133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9" r="0" b="-3113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730240" cy="1358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Every chunk carries its page span and Recommendation/section label.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151995" y="6202847"/>
            <a:ext cx="5139690" cy="2145030"/>
            <a:chOff x="0" y="0"/>
            <a:chExt cx="6852920" cy="28600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852920" cy="2860040"/>
            </a:xfrm>
            <a:custGeom>
              <a:avLst/>
              <a:gdLst/>
              <a:ahLst/>
              <a:cxnLst/>
              <a:rect r="r" b="b" t="t" l="l"/>
              <a:pathLst>
                <a:path h="2860040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2860040"/>
                  </a:lnTo>
                  <a:lnTo>
                    <a:pt x="0" y="2860040"/>
                  </a:lnTo>
                  <a:close/>
                </a:path>
              </a:pathLst>
            </a:custGeom>
            <a:solidFill>
              <a:srgbClr val="F5F7FA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2513564" y="6563106"/>
            <a:ext cx="4297680" cy="548640"/>
            <a:chOff x="0" y="0"/>
            <a:chExt cx="573024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30240" cy="731520"/>
            </a:xfrm>
            <a:custGeom>
              <a:avLst/>
              <a:gdLst/>
              <a:ahLst/>
              <a:cxnLst/>
              <a:rect r="r" b="b" t="t" l="l"/>
              <a:pathLst>
                <a:path h="73152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632" r="0" b="-10263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7302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Fails safe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573000" y="7200900"/>
            <a:ext cx="4297680" cy="1004649"/>
            <a:chOff x="0" y="0"/>
            <a:chExt cx="5730240" cy="133953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30240" cy="1339533"/>
            </a:xfrm>
            <a:custGeom>
              <a:avLst/>
              <a:gdLst/>
              <a:ahLst/>
              <a:cxnLst/>
              <a:rect r="r" b="b" t="t" l="l"/>
              <a:pathLst>
                <a:path h="1339533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339533"/>
                  </a:lnTo>
                  <a:lnTo>
                    <a:pt x="0" y="1339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569" r="0" b="-3113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730240" cy="1358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75"/>
                </a:lnSpc>
              </a:pPr>
              <a:r>
                <a:rPr lang="en-US" sz="187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model available → retrieval-only mode returns cited passages, never crashes.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WHY, NOT JUST WHAT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Design choices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68880"/>
            <a:ext cx="96012" cy="1097280"/>
            <a:chOff x="0" y="0"/>
            <a:chExt cx="128016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468880"/>
            <a:ext cx="5417820" cy="1097280"/>
            <a:chOff x="0" y="0"/>
            <a:chExt cx="7223760" cy="1463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2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722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Hybrid retrieval (dense + BM25)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720840" y="2468880"/>
            <a:ext cx="10561320" cy="1097280"/>
            <a:chOff x="0" y="0"/>
            <a:chExt cx="14081760" cy="14630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08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0817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Dense-only misses exact terms/IDs; on jargon-heavy legal text lexical signal is too valuable to drop.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3730752"/>
            <a:ext cx="96012" cy="1097280"/>
            <a:chOff x="0" y="0"/>
            <a:chExt cx="128016" cy="1463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3730752"/>
            <a:ext cx="5417820" cy="1097280"/>
            <a:chOff x="0" y="0"/>
            <a:chExt cx="722376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22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22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Page-tagged chunking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3730752"/>
            <a:ext cx="10561320" cy="1097280"/>
            <a:chOff x="0" y="0"/>
            <a:chExt cx="1408176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8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40817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Auditability is a feature: an answer is only useful if it can be checked against the page.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4992624"/>
            <a:ext cx="96012" cy="1097280"/>
            <a:chOff x="0" y="0"/>
            <a:chExt cx="128016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03020" y="4992624"/>
            <a:ext cx="5417820" cy="1097280"/>
            <a:chOff x="0" y="0"/>
            <a:chExt cx="722376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22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722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Local open-source models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20840" y="4992624"/>
            <a:ext cx="10561320" cy="1097280"/>
            <a:chOff x="0" y="0"/>
            <a:chExt cx="1408176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08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40817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keys, no external calls, fully reproducible for the evaluator — and avoids vendor lock-in.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254496"/>
            <a:ext cx="96012" cy="1097280"/>
            <a:chOff x="0" y="0"/>
            <a:chExt cx="128016" cy="1463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03020" y="6254496"/>
            <a:ext cx="5417820" cy="1097280"/>
            <a:chOff x="0" y="0"/>
            <a:chExt cx="7223760" cy="1463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22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Thin stack (no LangChain)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720840" y="6254496"/>
            <a:ext cx="10561320" cy="1097280"/>
            <a:chOff x="0" y="0"/>
            <a:chExt cx="14081760" cy="1463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08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40817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framework hides the retrieval mechanics we are graded on explaining.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60120" y="7516368"/>
            <a:ext cx="96012" cy="1097280"/>
            <a:chOff x="0" y="0"/>
            <a:chExt cx="128016" cy="1463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020" y="7516368"/>
            <a:ext cx="5417820" cy="1097280"/>
            <a:chOff x="0" y="0"/>
            <a:chExt cx="7223760" cy="14630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2237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207" r="0" b="-462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7223760" cy="14630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E2A4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Exact NumPy / flat FAISS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720840" y="7516368"/>
            <a:ext cx="10561320" cy="1097280"/>
            <a:chOff x="0" y="0"/>
            <a:chExt cx="1408176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4081761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081761">
                  <a:moveTo>
                    <a:pt x="0" y="0"/>
                  </a:moveTo>
                  <a:lnTo>
                    <a:pt x="14081761" y="0"/>
                  </a:lnTo>
                  <a:lnTo>
                    <a:pt x="14081761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543" r="0" b="-13754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4081760" cy="14916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7"/>
                </a:lnSpc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250 </a:t>
              </a: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chunks: brute-force is instant; an approximate index adds complexity for no benefit.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WHY, NOT JUST WHAT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Design choices - the excluded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250563"/>
            <a:ext cx="96012" cy="1097280"/>
            <a:chOff x="0" y="0"/>
            <a:chExt cx="128016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016" cy="1463040"/>
            </a:xfrm>
            <a:custGeom>
              <a:avLst/>
              <a:gdLst/>
              <a:ahLst/>
              <a:cxnLst/>
              <a:rect r="r" b="b" t="t" l="l"/>
              <a:pathLst>
                <a:path h="1463040" w="128016">
                  <a:moveTo>
                    <a:pt x="0" y="0"/>
                  </a:moveTo>
                  <a:lnTo>
                    <a:pt x="128016" y="0"/>
                  </a:lnTo>
                  <a:lnTo>
                    <a:pt x="128016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66921"/>
            <a:ext cx="7905750" cy="6264564"/>
            <a:chOff x="0" y="0"/>
            <a:chExt cx="10541000" cy="83527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1000" cy="8352752"/>
            </a:xfrm>
            <a:custGeom>
              <a:avLst/>
              <a:gdLst/>
              <a:ahLst/>
              <a:cxnLst/>
              <a:rect r="r" b="b" t="t" l="l"/>
              <a:pathLst>
                <a:path h="8352752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352752"/>
                  </a:lnTo>
                  <a:lnTo>
                    <a:pt x="0" y="8352752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20381" y="2962492"/>
            <a:ext cx="6926580" cy="921283"/>
            <a:chOff x="0" y="0"/>
            <a:chExt cx="9235440" cy="12283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35440" cy="1228378"/>
            </a:xfrm>
            <a:custGeom>
              <a:avLst/>
              <a:gdLst/>
              <a:ahLst/>
              <a:cxnLst/>
              <a:rect r="r" b="b" t="t" l="l"/>
              <a:pathLst>
                <a:path h="1228378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28378"/>
                  </a:lnTo>
                  <a:lnTo>
                    <a:pt x="0" y="12283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20" r="0" b="-7627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235440" cy="1247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 ·'Qwen3-Embedding-0.6B' embedding model.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0381" y="4265512"/>
            <a:ext cx="6926580" cy="4114800"/>
            <a:chOff x="0" y="0"/>
            <a:chExt cx="9235440" cy="548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354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219" t="0" r="-2621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235440" cy="548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Considerably heavier model increasing the hardware demand and processing times.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Inforcing a larger chunk on all-MiniLM is possible but was discarded as it increased the risk of quality loss.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 consequence we opted for chunks of 250 word size.</a:t>
              </a:r>
            </a:p>
            <a:p>
              <a:pPr algn="l">
                <a:lnSpc>
                  <a:spcPts val="243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798162" y="2666921"/>
            <a:ext cx="7905750" cy="6298313"/>
            <a:chOff x="0" y="0"/>
            <a:chExt cx="10541000" cy="83977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41000" cy="8397751"/>
            </a:xfrm>
            <a:custGeom>
              <a:avLst/>
              <a:gdLst/>
              <a:ahLst/>
              <a:cxnLst/>
              <a:rect r="r" b="b" t="t" l="l"/>
              <a:pathLst>
                <a:path h="8397751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397751"/>
                  </a:lnTo>
                  <a:lnTo>
                    <a:pt x="0" y="8397751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0228692" y="2996241"/>
            <a:ext cx="6926580" cy="921283"/>
            <a:chOff x="0" y="0"/>
            <a:chExt cx="9235440" cy="12283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235440" cy="1228378"/>
            </a:xfrm>
            <a:custGeom>
              <a:avLst/>
              <a:gdLst/>
              <a:ahLst/>
              <a:cxnLst/>
              <a:rect r="r" b="b" t="t" l="l"/>
              <a:pathLst>
                <a:path h="1228378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1228378"/>
                  </a:lnTo>
                  <a:lnTo>
                    <a:pt x="0" y="12283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6720" r="0" b="-762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9235440" cy="12474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 · Purely dense or purely lexical (BM25) retrieval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747" y="4299261"/>
            <a:ext cx="6926580" cy="4114800"/>
            <a:chOff x="0" y="0"/>
            <a:chExt cx="9235440" cy="5486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2354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219" t="0" r="-26219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235440" cy="548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Dense captures meaning and paraphrase, but blurs exact terms.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BM25 nails exact terms but is blind to synonyms and rephrasing.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437197" indent="-218599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 </a:t>
              </a: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hybrid (fusing both scores) recovers the documents either method alone would miss.</a:t>
              </a:r>
            </a:p>
            <a:p>
              <a:pPr algn="l">
                <a:lnSpc>
                  <a:spcPts val="2430"/>
                </a:lnSpc>
              </a:pPr>
            </a:p>
            <a:p>
              <a:pPr algn="l">
                <a:lnSpc>
                  <a:spcPts val="243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METHODOLOGY · QUALITATIVE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Qualitative methodology — what we vary and why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3115627"/>
            <a:ext cx="5139690" cy="4454337"/>
            <a:chOff x="0" y="0"/>
            <a:chExt cx="6852920" cy="59391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2920" cy="5939116"/>
            </a:xfrm>
            <a:custGeom>
              <a:avLst/>
              <a:gdLst/>
              <a:ahLst/>
              <a:cxnLst/>
              <a:rect r="r" b="b" t="t" l="l"/>
              <a:pathLst>
                <a:path h="5939116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5939116"/>
                  </a:lnTo>
                  <a:lnTo>
                    <a:pt x="0" y="59391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38225" y="3125152"/>
            <a:ext cx="5120640" cy="822960"/>
            <a:chOff x="0" y="0"/>
            <a:chExt cx="682752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A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9705" y="3125152"/>
            <a:ext cx="4297680" cy="822960"/>
            <a:chOff x="0" y="0"/>
            <a:chExt cx="573024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7302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Chunking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9705" y="4291012"/>
            <a:ext cx="4297680" cy="3429000"/>
            <a:chOff x="0" y="0"/>
            <a:chExt cx="5730240" cy="4572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302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369" t="0" r="-5236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730240" cy="458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 — one page per chunk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paragraph — word windows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paragraph + overlap (50w)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recursive char windows (prod.)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90347" y="3115627"/>
            <a:ext cx="5139690" cy="4454337"/>
            <a:chOff x="0" y="0"/>
            <a:chExt cx="6852920" cy="59391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2920" cy="5939116"/>
            </a:xfrm>
            <a:custGeom>
              <a:avLst/>
              <a:gdLst/>
              <a:ahLst/>
              <a:cxnLst/>
              <a:rect r="r" b="b" t="t" l="l"/>
              <a:pathLst>
                <a:path h="5939116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5939116"/>
                  </a:lnTo>
                  <a:lnTo>
                    <a:pt x="0" y="59391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599872" y="3125152"/>
            <a:ext cx="5120640" cy="822960"/>
            <a:chOff x="0" y="0"/>
            <a:chExt cx="682752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A4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11352" y="3125152"/>
            <a:ext cx="4297680" cy="822960"/>
            <a:chOff x="0" y="0"/>
            <a:chExt cx="573024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7302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Retrieval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11352" y="4291012"/>
            <a:ext cx="4297680" cy="3429000"/>
            <a:chOff x="0" y="0"/>
            <a:chExt cx="5730240" cy="457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302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369" t="0" r="-52369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730240" cy="458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dense (semantic, MiniLM)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BM25 (lexical, exact terms)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hybrid (normalised fusion, α)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168188" y="3125152"/>
            <a:ext cx="5139690" cy="4454337"/>
            <a:chOff x="0" y="0"/>
            <a:chExt cx="6852920" cy="593911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52920" cy="5939116"/>
            </a:xfrm>
            <a:custGeom>
              <a:avLst/>
              <a:gdLst/>
              <a:ahLst/>
              <a:cxnLst/>
              <a:rect r="r" b="b" t="t" l="l"/>
              <a:pathLst>
                <a:path h="5939116" w="6852920">
                  <a:moveTo>
                    <a:pt x="0" y="0"/>
                  </a:moveTo>
                  <a:lnTo>
                    <a:pt x="6852920" y="0"/>
                  </a:lnTo>
                  <a:lnTo>
                    <a:pt x="6852920" y="5939116"/>
                  </a:lnTo>
                  <a:lnTo>
                    <a:pt x="0" y="593911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177712" y="3134678"/>
            <a:ext cx="5120640" cy="822960"/>
            <a:chOff x="0" y="0"/>
            <a:chExt cx="682752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27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1E2A44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589193" y="3134678"/>
            <a:ext cx="4297680" cy="822960"/>
            <a:chOff x="0" y="0"/>
            <a:chExt cx="573024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30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755" r="0" b="-5175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57302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Generation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89193" y="4300537"/>
            <a:ext cx="4297680" cy="3429000"/>
            <a:chOff x="0" y="0"/>
            <a:chExt cx="5730240" cy="4572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30240" cy="4572000"/>
            </a:xfrm>
            <a:custGeom>
              <a:avLst/>
              <a:gdLst/>
              <a:ahLst/>
              <a:cxnLst/>
              <a:rect r="r" b="b" t="t" l="l"/>
              <a:pathLst>
                <a:path h="4572000" w="5730240">
                  <a:moveTo>
                    <a:pt x="0" y="0"/>
                  </a:moveTo>
                  <a:lnTo>
                    <a:pt x="5730240" y="0"/>
                  </a:lnTo>
                  <a:lnTo>
                    <a:pt x="5730240" y="4572000"/>
                  </a:lnTo>
                  <a:lnTo>
                    <a:pt x="0" y="4572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369" t="0" r="-52369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5730240" cy="458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Flan-T5 (instruction, seq2seq)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GPT-2 (causal baseline)</a:t>
              </a:r>
            </a:p>
            <a:p>
              <a:pPr algn="l">
                <a:lnSpc>
                  <a:spcPts val="2340"/>
                </a:lnSpc>
              </a:pP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Llama via Ollama (optional)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METHODOLOGY · QUANTITATIVE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1567815"/>
            <a:chOff x="0" y="0"/>
            <a:chExt cx="21762720" cy="20904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2090420"/>
            </a:xfrm>
            <a:custGeom>
              <a:avLst/>
              <a:gdLst/>
              <a:ahLst/>
              <a:cxnLst/>
              <a:rect r="r" b="b" t="t" l="l"/>
              <a:pathLst>
                <a:path h="20904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2090420"/>
                  </a:lnTo>
                  <a:lnTo>
                    <a:pt x="0" y="20904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2233" r="0" b="-13347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2109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Quantitative methodology — two independent evaluations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7905750" cy="6191250"/>
            <a:chOff x="0" y="0"/>
            <a:chExt cx="10541000" cy="825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17355" y="2527935"/>
            <a:ext cx="7905750" cy="6191250"/>
            <a:chOff x="0" y="0"/>
            <a:chExt cx="10541000" cy="825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4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2948940"/>
            <a:ext cx="6926580" cy="548640"/>
            <a:chOff x="0" y="0"/>
            <a:chExt cx="9235440" cy="7315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235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 · Retrieval evaluation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0180" y="3607308"/>
            <a:ext cx="6926580" cy="411480"/>
            <a:chOff x="0" y="0"/>
            <a:chExt cx="923544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2354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B728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Did we find the right text?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0180" y="4251960"/>
            <a:ext cx="6926580" cy="4114800"/>
            <a:chOff x="0" y="0"/>
            <a:chExt cx="9235440" cy="548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354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219" t="0" r="-26219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235440" cy="548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15 hand-built questions with gold pages located manually in the PDF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Relevant = retrieved chunk's page span ∩ gold pages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Metrics: Recall@k (hit rate), MRR, Precision@k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Ablation across retriever type and chunk size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06940" y="2948940"/>
            <a:ext cx="6926580" cy="548640"/>
            <a:chOff x="0" y="0"/>
            <a:chExt cx="923544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23544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 · Answer evaluation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806940" y="3607308"/>
            <a:ext cx="6926580" cy="411480"/>
            <a:chOff x="0" y="0"/>
            <a:chExt cx="92354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35440" cy="548640"/>
            </a:xfrm>
            <a:custGeom>
              <a:avLst/>
              <a:gdLst/>
              <a:ahLst/>
              <a:cxnLst/>
              <a:rect r="r" b="b" t="t" l="l"/>
              <a:pathLst>
                <a:path h="54864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7998" r="0" b="-277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23544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i="true">
                  <a:solidFill>
                    <a:srgbClr val="6B728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Was the generated answer right?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06940" y="4251960"/>
            <a:ext cx="6926580" cy="4114800"/>
            <a:chOff x="0" y="0"/>
            <a:chExt cx="9235440" cy="5486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235440" cy="5486400"/>
            </a:xfrm>
            <a:custGeom>
              <a:avLst/>
              <a:gdLst/>
              <a:ahLst/>
              <a:cxnLst/>
              <a:rect r="r" b="b" t="t" l="l"/>
              <a:pathLst>
                <a:path h="548640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6219" t="0" r="-2621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9235440" cy="5486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 QA pairs with short expected answers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scenarios = 3 chunking strategies × 3 generators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Score: factual substring match (expected ⊂ output)</a:t>
              </a:r>
            </a:p>
            <a:p>
              <a:pPr algn="l">
                <a:lnSpc>
                  <a:spcPts val="2430"/>
                </a:lnSpc>
              </a:pPr>
            </a:p>
            <a:p>
              <a:pPr algn="l" marL="366474" indent="-183237" lvl="1">
                <a:lnSpc>
                  <a:spcPts val="2430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End-to-end: retrieve →  augment → generate → check → manual validation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RESULTS · RETRIEVAL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Retrieval results — BM25 is a strong baseline here</a:t>
              </a:r>
            </a:p>
          </p:txBody>
        </p:sp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7160" y="1783080"/>
            <a:ext cx="9875520" cy="740664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 rot="0">
            <a:off x="9738360" y="2743200"/>
            <a:ext cx="7543800" cy="548640"/>
            <a:chOff x="0" y="0"/>
            <a:chExt cx="100584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00584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How we read it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38360" y="3429000"/>
            <a:ext cx="7543800" cy="4937760"/>
            <a:chOff x="0" y="0"/>
            <a:chExt cx="10058400" cy="6583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0" cy="6583680"/>
            </a:xfrm>
            <a:custGeom>
              <a:avLst/>
              <a:gdLst/>
              <a:ahLst/>
              <a:cxnLst/>
              <a:rect r="r" b="b" t="t" l="l"/>
              <a:pathLst>
                <a:path h="658368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3980" t="0" r="-3398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058400" cy="6612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527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Every question retrieves a gold page in the top-5; the first hit is correct on 11/15 (MRR 0.88).</a:t>
              </a:r>
            </a:p>
            <a:p>
              <a:pPr algn="l">
                <a:lnSpc>
                  <a:spcPts val="2527"/>
                </a:lnSpc>
              </a:pPr>
            </a:p>
            <a:p>
              <a:pPr algn="l" marL="352901" indent="-176451" lvl="1">
                <a:lnSpc>
                  <a:spcPts val="2527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corpus is small and uses consistent terminology, so exact match is hard to beat — reporting only a dense number would overstate the need for embeddings.</a:t>
              </a:r>
            </a:p>
            <a:p>
              <a:pPr algn="l">
                <a:lnSpc>
                  <a:spcPts val="2527"/>
                </a:lnSpc>
              </a:pPr>
            </a:p>
            <a:p>
              <a:pPr algn="l" marL="352901" indent="-176451" lvl="1">
                <a:lnSpc>
                  <a:spcPts val="2527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Dense / hybrid earn their keep on paraphrased queries; our in-vocabulary test set under-tests that gap (see limitations).</a:t>
              </a:r>
            </a:p>
            <a:p>
              <a:pPr algn="l">
                <a:lnSpc>
                  <a:spcPts val="2527"/>
                </a:lnSpc>
              </a:pPr>
            </a:p>
            <a:p>
              <a:pPr algn="l" marL="352901" indent="-176451" lvl="1">
                <a:lnSpc>
                  <a:spcPts val="2527"/>
                </a:lnSpc>
                <a:buFont typeface="Arial"/>
                <a:buChar char="•"/>
              </a:pP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Precision@5 ≈ 0.5 is expected: most answers live on a single page. Recall and MRR are the metrics that matter for a QA front-end that shows 5 sources.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RESULTS · SCENARIOS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Answer results — chunking and the reader matter most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972800" y="2606040"/>
            <a:ext cx="6309360" cy="548640"/>
            <a:chOff x="0" y="0"/>
            <a:chExt cx="841248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12480" cy="731520"/>
            </a:xfrm>
            <a:custGeom>
              <a:avLst/>
              <a:gdLst/>
              <a:ahLst/>
              <a:cxnLst/>
              <a:rect r="r" b="b" t="t" l="l"/>
              <a:pathLst>
                <a:path h="73152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077" r="0" b="-17407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841248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Findings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72800" y="3360420"/>
            <a:ext cx="6309360" cy="2057400"/>
            <a:chOff x="0" y="0"/>
            <a:chExt cx="8412480" cy="274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12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41248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0"/>
                </a:lnSpc>
              </a:pPr>
              <a:r>
                <a:rPr lang="en-US" sz="1950" b="true">
                  <a:solidFill>
                    <a:srgbClr val="1F2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Chunking doesn't have a vissible meaningfull effect</a:t>
              </a:r>
              <a:r>
                <a:rPr lang="en-US" sz="1950" b="true">
                  <a:solidFill>
                    <a:srgbClr val="1F2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  </a:t>
              </a: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‘page’ strategy performed reasonably well when compared to small chunking, even giving better result for the case of GPT-2.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49940" y="5417820"/>
            <a:ext cx="6309360" cy="2057400"/>
            <a:chOff x="0" y="0"/>
            <a:chExt cx="8412480" cy="274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124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754" r="0" b="-975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8412480" cy="2781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20"/>
                </a:lnSpc>
              </a:pPr>
              <a:r>
                <a:rPr lang="en-US" sz="1950" b="true">
                  <a:solidFill>
                    <a:srgbClr val="1F2933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Reader type &gt; size. </a:t>
              </a:r>
              <a:r>
                <a:rPr lang="en-US" sz="1950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the seq2seq model (Flan-T5) beat the causal GPT-2, but both models are beaten by Llama. It consistantly provides correct answers and guides its source so it can be tracked back.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338913" y="2204054"/>
            <a:ext cx="8161020" cy="5393388"/>
          </a:xfrm>
          <a:custGeom>
            <a:avLst/>
            <a:gdLst/>
            <a:ahLst/>
            <a:cxnLst/>
            <a:rect r="r" b="b" t="t" l="l"/>
            <a:pathLst>
              <a:path h="5393388" w="8161020">
                <a:moveTo>
                  <a:pt x="0" y="0"/>
                </a:moveTo>
                <a:lnTo>
                  <a:pt x="8161020" y="0"/>
                </a:lnTo>
                <a:lnTo>
                  <a:pt x="8161020" y="5393388"/>
                </a:lnTo>
                <a:lnTo>
                  <a:pt x="0" y="5393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8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6322040" cy="411480"/>
            <a:chOff x="0" y="0"/>
            <a:chExt cx="2176272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62720" cy="548640"/>
            </a:xfrm>
            <a:custGeom>
              <a:avLst/>
              <a:gdLst/>
              <a:ahLst/>
              <a:cxnLst/>
              <a:rect r="r" b="b" t="t" l="l"/>
              <a:pathLst>
                <a:path h="54864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2906" r="0" b="-72290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7627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450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INTERPRETATION &amp; LIMITATIONS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6322040" cy="960120"/>
            <a:chOff x="0" y="0"/>
            <a:chExt cx="2176272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76272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What we conclude — and where we are honest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0595" y="2527935"/>
            <a:ext cx="7905750" cy="6191250"/>
            <a:chOff x="0" y="0"/>
            <a:chExt cx="10541000" cy="825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4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2921508"/>
            <a:ext cx="6926580" cy="548640"/>
            <a:chOff x="0" y="0"/>
            <a:chExt cx="923544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235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E2A44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Takeaways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0180" y="3634740"/>
            <a:ext cx="6926580" cy="4663440"/>
            <a:chOff x="0" y="0"/>
            <a:chExt cx="9235440" cy="6217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35440" cy="6217920"/>
            </a:xfrm>
            <a:custGeom>
              <a:avLst/>
              <a:gdLst/>
              <a:ahLst/>
              <a:cxnLst/>
              <a:rect r="r" b="b" t="t" l="l"/>
              <a:pathLst>
                <a:path h="62179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6217920"/>
                  </a:lnTo>
                  <a:lnTo>
                    <a:pt x="0" y="6217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382" t="0" r="-363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235440" cy="623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Retrieval quality + an instruction-following reader matter more than model size.</a:t>
              </a:r>
            </a:p>
            <a:p>
              <a:pPr algn="l">
                <a:lnSpc>
                  <a:spcPts val="2673"/>
                </a:lnSpc>
              </a:pPr>
            </a:p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Page-level citations make every answer auditable — the core requirement for compliance use.</a:t>
              </a:r>
            </a:p>
            <a:p>
              <a:pPr algn="l">
                <a:lnSpc>
                  <a:spcPts val="2673"/>
                </a:lnSpc>
              </a:pPr>
            </a:p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 a small, consistent corpus, BM25 is a strong baseline; hybrid adds robustness to paraphrase.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17355" y="2527935"/>
            <a:ext cx="7905750" cy="6191250"/>
            <a:chOff x="0" y="0"/>
            <a:chExt cx="10541000" cy="8255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410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10541000">
                  <a:moveTo>
                    <a:pt x="0" y="0"/>
                  </a:moveTo>
                  <a:lnTo>
                    <a:pt x="10541000" y="0"/>
                  </a:lnTo>
                  <a:lnTo>
                    <a:pt x="105410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BF3F0"/>
            </a:solidFill>
            <a:ln w="19050" cap="sq">
              <a:solidFill>
                <a:srgbClr val="D8DEE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806940" y="2921508"/>
            <a:ext cx="6926580" cy="548640"/>
            <a:chOff x="0" y="0"/>
            <a:chExt cx="92354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235440" cy="731520"/>
            </a:xfrm>
            <a:custGeom>
              <a:avLst/>
              <a:gdLst/>
              <a:ahLst/>
              <a:cxnLst/>
              <a:rect r="r" b="b" t="t" l="l"/>
              <a:pathLst>
                <a:path h="7315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998" r="0" b="-19599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923544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9A4A36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Limitations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806940" y="3634740"/>
            <a:ext cx="6926580" cy="4663440"/>
            <a:chOff x="0" y="0"/>
            <a:chExt cx="9235440" cy="6217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35440" cy="6217920"/>
            </a:xfrm>
            <a:custGeom>
              <a:avLst/>
              <a:gdLst/>
              <a:ahLst/>
              <a:cxnLst/>
              <a:rect r="r" b="b" t="t" l="l"/>
              <a:pathLst>
                <a:path h="6217920" w="9235440">
                  <a:moveTo>
                    <a:pt x="0" y="0"/>
                  </a:moveTo>
                  <a:lnTo>
                    <a:pt x="9235440" y="0"/>
                  </a:lnTo>
                  <a:lnTo>
                    <a:pt x="9235440" y="6217920"/>
                  </a:lnTo>
                  <a:lnTo>
                    <a:pt x="0" y="6217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6382" t="0" r="-363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9235440" cy="623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 sets are small and group-authored — a sanity check, not a benchmark.</a:t>
              </a:r>
            </a:p>
            <a:p>
              <a:pPr algn="l">
                <a:lnSpc>
                  <a:spcPts val="2673"/>
                </a:lnSpc>
              </a:pPr>
            </a:p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Page-level relevance is coarse; substring match under-counts paraphrased-correct answers.</a:t>
              </a:r>
            </a:p>
            <a:p>
              <a:pPr algn="l">
                <a:lnSpc>
                  <a:spcPts val="2673"/>
                </a:lnSpc>
              </a:pPr>
            </a:p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Questions are in-vocabulary, which flatters BM25.</a:t>
              </a:r>
            </a:p>
            <a:p>
              <a:pPr algn="l">
                <a:lnSpc>
                  <a:spcPts val="2673"/>
                </a:lnSpc>
              </a:pPr>
            </a:p>
            <a:p>
              <a:pPr algn="l" marL="366474" indent="-183237" lvl="1">
                <a:lnSpc>
                  <a:spcPts val="2673"/>
                </a:lnSpc>
                <a:buFont typeface="Arial"/>
                <a:buChar char="•"/>
              </a:pPr>
              <a:r>
                <a:rPr lang="en-US" sz="2025">
                  <a:solidFill>
                    <a:srgbClr val="1F293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 faithfulness is not yet scored automatically.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0120" y="9669780"/>
            <a:ext cx="10972800" cy="411480"/>
            <a:chOff x="0" y="0"/>
            <a:chExt cx="14630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FATF-RAG  ·  RAG on a domain-specific legal corpus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870680" y="9669780"/>
            <a:ext cx="548640" cy="411480"/>
            <a:chOff x="0" y="0"/>
            <a:chExt cx="73152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73152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728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1851660"/>
            <a:ext cx="1508760" cy="96012"/>
            <a:chOff x="0" y="0"/>
            <a:chExt cx="2011680" cy="12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1680" cy="128016"/>
            </a:xfrm>
            <a:custGeom>
              <a:avLst/>
              <a:gdLst/>
              <a:ahLst/>
              <a:cxnLst/>
              <a:rect r="r" b="b" t="t" l="l"/>
              <a:pathLst>
                <a:path h="128016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128016"/>
                  </a:lnTo>
                  <a:lnTo>
                    <a:pt x="0" y="128016"/>
                  </a:lnTo>
                  <a:close/>
                </a:path>
              </a:pathLst>
            </a:custGeom>
            <a:solidFill>
              <a:srgbClr val="4C6FA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0120" y="2057400"/>
            <a:ext cx="15773400" cy="1234440"/>
            <a:chOff x="0" y="0"/>
            <a:chExt cx="21031200" cy="1645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8975" r="0" b="-1989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2103120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Reproducible, local, and auditable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60120" y="3406140"/>
            <a:ext cx="15910560" cy="960120"/>
            <a:chOff x="0" y="0"/>
            <a:chExt cx="2121408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40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94" r="0" b="-2728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21408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Deliverables.  </a:t>
              </a:r>
              <a:r>
                <a:rPr lang="en-US" sz="2175">
                  <a:solidFill>
                    <a:srgbClr val="C9D4E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Git repo (source, requirements, README), reproducible notebook, CLI and Streamlit entry-points, and this deck.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120" y="4477026"/>
            <a:ext cx="15910560" cy="1959969"/>
            <a:chOff x="0" y="0"/>
            <a:chExt cx="21214080" cy="26132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14080" cy="2613292"/>
            </a:xfrm>
            <a:custGeom>
              <a:avLst/>
              <a:gdLst/>
              <a:ahLst/>
              <a:cxnLst/>
              <a:rect r="r" b="b" t="t" l="l"/>
              <a:pathLst>
                <a:path h="2613292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2613292"/>
                  </a:lnTo>
                  <a:lnTo>
                    <a:pt x="0" y="26132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3681" r="0" b="-826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214080" cy="26513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Future work.  </a:t>
              </a:r>
            </a:p>
            <a:p>
              <a:pPr algn="l" marL="469582" indent="-234791" lvl="1">
                <a:lnSpc>
                  <a:spcPts val="3001"/>
                </a:lnSpc>
                <a:buFont typeface="Arial"/>
                <a:buChar char="•"/>
              </a:pPr>
              <a:r>
                <a:rPr lang="en-US" sz="21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Test the model on different languages (ex. Italian and spanish).</a:t>
              </a:r>
            </a:p>
            <a:p>
              <a:pPr algn="l" marL="469582" indent="-234791" lvl="1">
                <a:lnSpc>
                  <a:spcPts val="3001"/>
                </a:lnSpc>
                <a:buFont typeface="Arial"/>
                <a:buChar char="•"/>
              </a:pPr>
              <a:r>
                <a:rPr lang="en-US" sz="21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Modify pipeline to integrate more than 1 document as source.</a:t>
              </a:r>
            </a:p>
            <a:p>
              <a:pPr algn="l" marL="469582" indent="-234791" lvl="1">
                <a:lnSpc>
                  <a:spcPts val="3001"/>
                </a:lnSpc>
                <a:buFont typeface="Arial"/>
                <a:buChar char="•"/>
              </a:pPr>
              <a:r>
                <a:rPr lang="en-US" sz="2175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Explore new embedding models compatible with a loval environment and acceptable time responses.</a:t>
              </a:r>
            </a:p>
            <a:p>
              <a:pPr algn="l">
                <a:lnSpc>
                  <a:spcPts val="300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0595" y="6436995"/>
            <a:ext cx="16341090" cy="2213610"/>
            <a:chOff x="0" y="0"/>
            <a:chExt cx="21788120" cy="2951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8812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1788120">
                  <a:moveTo>
                    <a:pt x="0" y="0"/>
                  </a:moveTo>
                  <a:lnTo>
                    <a:pt x="21788120" y="0"/>
                  </a:lnTo>
                  <a:lnTo>
                    <a:pt x="21788120" y="2951480"/>
                  </a:lnTo>
                  <a:lnTo>
                    <a:pt x="0" y="2951480"/>
                  </a:lnTo>
                  <a:close/>
                </a:path>
              </a:pathLst>
            </a:custGeom>
            <a:solidFill>
              <a:srgbClr val="26344F"/>
            </a:solidFill>
            <a:ln w="19050" cap="sq">
              <a:solidFill>
                <a:srgbClr val="3A4A6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40180" y="6720840"/>
            <a:ext cx="15361920" cy="480060"/>
            <a:chOff x="0" y="0"/>
            <a:chExt cx="2048256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82561" cy="640080"/>
            </a:xfrm>
            <a:custGeom>
              <a:avLst/>
              <a:gdLst/>
              <a:ahLst/>
              <a:cxnLst/>
              <a:rect r="r" b="b" t="t" l="l"/>
              <a:pathLst>
                <a:path h="6400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048256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9">
                  <a:solidFill>
                    <a:srgbClr val="4C6FA5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 usage disclosure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0180" y="7200900"/>
            <a:ext cx="15499080" cy="1303020"/>
            <a:chOff x="0" y="0"/>
            <a:chExt cx="20665440" cy="1737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65439" cy="1737360"/>
            </a:xfrm>
            <a:custGeom>
              <a:avLst/>
              <a:gdLst/>
              <a:ahLst/>
              <a:cxnLst/>
              <a:rect r="r" b="b" t="t" l="l"/>
              <a:pathLst>
                <a:path h="173736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0665440" cy="1765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875">
                  <a:solidFill>
                    <a:srgbClr val="D5DE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(Anthropic): was a boilerp</a:t>
              </a:r>
              <a:r>
                <a:rPr lang="en-US" sz="1875">
                  <a:solidFill>
                    <a:srgbClr val="D5DEE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late for the retrieval pipeline modules (FAISS/BM25 wrappers, the Streamlit and CLI scaffolding), debugging the generation step (the GPT-2 1024-token IndexError), researching and comparing embedding-model context windows and multilingual support, refactoring the notebook into reusable functions and pipeline structure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0120" y="9121140"/>
            <a:ext cx="10972800" cy="411480"/>
            <a:chOff x="0" y="0"/>
            <a:chExt cx="14630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463040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8FA1C0"/>
                  </a:solidFill>
                  <a:latin typeface="Montserrat Italics"/>
                  <a:ea typeface="Montserrat Italics"/>
                  <a:cs typeface="Montserrat Italics"/>
                  <a:sym typeface="Montserrat Italics"/>
                </a:rPr>
                <a:t>github.com/[your-org]/fatf-rag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DAHMhyKajW0</dc:identifier>
  <dcterms:modified xsi:type="dcterms:W3CDTF">2011-08-01T06:04:30Z</dcterms:modified>
  <cp:revision>1</cp:revision>
  <dc:title>Presentation RAG</dc:title>
</cp:coreProperties>
</file>